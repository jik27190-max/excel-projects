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E1916-E237-4818-B4D1-8D2F51495691}" v="9" dt="2026-10-16T10:53:59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umar" userId="6f69711755cde1a6" providerId="LiveId" clId="{0AAE3268-0AEB-4709-A1E5-5E5AA297D685}"/>
    <pc:docChg chg="custSel modSld">
      <pc:chgData name="Tushar kumar" userId="6f69711755cde1a6" providerId="LiveId" clId="{0AAE3268-0AEB-4709-A1E5-5E5AA297D685}" dt="2026-10-16T10:54:00.782" v="28"/>
      <pc:docMkLst>
        <pc:docMk/>
      </pc:docMkLst>
      <pc:sldChg chg="addSp delSp modSp mod">
        <pc:chgData name="Tushar kumar" userId="6f69711755cde1a6" providerId="LiveId" clId="{0AAE3268-0AEB-4709-A1E5-5E5AA297D685}" dt="2026-10-16T10:54:00.782" v="28"/>
        <pc:sldMkLst>
          <pc:docMk/>
          <pc:sldMk cId="0" sldId="256"/>
        </pc:sldMkLst>
        <pc:spChg chg="mod">
          <ac:chgData name="Tushar kumar" userId="6f69711755cde1a6" providerId="LiveId" clId="{0AAE3268-0AEB-4709-A1E5-5E5AA297D685}" dt="2026-10-09T13:25:06.810" v="14" actId="20577"/>
          <ac:spMkLst>
            <pc:docMk/>
            <pc:sldMk cId="0" sldId="256"/>
            <ac:spMk id="28" creationId="{00000000-0000-0000-0000-000000000000}"/>
          </ac:spMkLst>
        </pc:spChg>
        <pc:spChg chg="add del mod">
          <ac:chgData name="Tushar kumar" userId="6f69711755cde1a6" providerId="LiveId" clId="{0AAE3268-0AEB-4709-A1E5-5E5AA297D685}" dt="2026-10-16T10:54:00.782" v="28"/>
          <ac:spMkLst>
            <pc:docMk/>
            <pc:sldMk cId="0" sldId="256"/>
            <ac:spMk id="30" creationId="{5784369F-EAA1-8192-FA92-992115B30E76}"/>
          </ac:spMkLst>
        </pc:spChg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57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58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59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0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1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2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3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4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5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6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7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8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69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0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1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2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3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4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5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6"/>
        </pc:sldMkLst>
      </pc:sldChg>
      <pc:sldChg chg="modSp mod modTransition">
        <pc:chgData name="Tushar kumar" userId="6f69711755cde1a6" providerId="LiveId" clId="{0AAE3268-0AEB-4709-A1E5-5E5AA297D685}" dt="2026-10-12T05:49:09.002" v="25"/>
        <pc:sldMkLst>
          <pc:docMk/>
          <pc:sldMk cId="0" sldId="277"/>
        </pc:sldMkLst>
        <pc:spChg chg="mod">
          <ac:chgData name="Tushar kumar" userId="6f69711755cde1a6" providerId="LiveId" clId="{0AAE3268-0AEB-4709-A1E5-5E5AA297D685}" dt="2026-10-12T05:47:11.922" v="17" actId="27636"/>
          <ac:spMkLst>
            <pc:docMk/>
            <pc:sldMk cId="0" sldId="277"/>
            <ac:spMk id="5" creationId="{00000000-0000-0000-0000-000000000000}"/>
          </ac:spMkLst>
        </pc:spChg>
        <pc:spChg chg="mod">
          <ac:chgData name="Tushar kumar" userId="6f69711755cde1a6" providerId="LiveId" clId="{0AAE3268-0AEB-4709-A1E5-5E5AA297D685}" dt="2026-10-12T05:47:11.916" v="16" actId="27636"/>
          <ac:spMkLst>
            <pc:docMk/>
            <pc:sldMk cId="0" sldId="277"/>
            <ac:spMk id="8" creationId="{00000000-0000-0000-0000-000000000000}"/>
          </ac:spMkLst>
        </pc:spChg>
        <pc:spChg chg="mod">
          <ac:chgData name="Tushar kumar" userId="6f69711755cde1a6" providerId="LiveId" clId="{0AAE3268-0AEB-4709-A1E5-5E5AA297D685}" dt="2026-10-12T05:47:11.927" v="18" actId="27636"/>
          <ac:spMkLst>
            <pc:docMk/>
            <pc:sldMk cId="0" sldId="277"/>
            <ac:spMk id="11" creationId="{00000000-0000-0000-0000-000000000000}"/>
          </ac:spMkLst>
        </pc:spChg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8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79"/>
        </pc:sldMkLst>
      </pc:sldChg>
      <pc:sldChg chg="modTransition">
        <pc:chgData name="Tushar kumar" userId="6f69711755cde1a6" providerId="LiveId" clId="{0AAE3268-0AEB-4709-A1E5-5E5AA297D685}" dt="2026-10-12T05:49:09.002" v="25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00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03301"/>
            <a:ext cx="10566400" cy="424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03301"/>
            <a:ext cx="10566400" cy="424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5175" y="127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1175" y="127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7175" y="127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3175" y="127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5175" y="190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1175" y="190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7175" y="190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3175" y="190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5175" y="254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1175" y="2543175"/>
            <a:ext cx="1009650" cy="628650"/>
          </a:xfrm>
          <a:prstGeom prst="rect">
            <a:avLst/>
          </a:prstGeom>
          <a:solidFill>
            <a:srgbClr val="1E7A4C"/>
          </a:solidFill>
          <a:ln w="6350">
            <a:solidFill>
              <a:srgbClr val="2C3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7175" y="254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3175" y="254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5175" y="317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1175" y="317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7175" y="317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3175" y="317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5175" y="381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1175" y="381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7175" y="381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3175" y="3813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5175" y="444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1175" y="444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7175" y="444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3175" y="4448175"/>
            <a:ext cx="1009650" cy="628650"/>
          </a:xfrm>
          <a:prstGeom prst="rect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0" y="2603500"/>
            <a:ext cx="1066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=SUM(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812800"/>
            <a:ext cx="45783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0B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QUICK-REFERENCE CHEAT SHEET</a:t>
            </a:r>
            <a:endParaRPr lang="en-US" sz="1400" dirty="0"/>
          </a:p>
        </p:txBody>
      </p:sp>
      <p:sp>
        <p:nvSpPr>
          <p:cNvPr id="28" name="Text 26"/>
          <p:cNvSpPr>
            <a:spLocks noGrp="1"/>
          </p:cNvSpPr>
          <p:nvPr>
            <p:ph type="title"/>
          </p:nvPr>
        </p:nvSpPr>
        <p:spPr>
          <a:xfrm>
            <a:off x="812800" y="2159000"/>
            <a:ext cx="614807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12800" y="5476280"/>
            <a:ext cx="58864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Shortcuts, marksheet logic, lookups, text, dates and finance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between sheets, fill a series, and total a range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606477"/>
            <a:ext cx="670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068711"/>
            <a:ext cx="274701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Shift + 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83000" y="2068711"/>
            <a:ext cx="395046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sheets (press the up or down key on the num pad)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3021707"/>
            <a:ext cx="670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698552"/>
            <a:ext cx="27470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83000" y="2698552"/>
            <a:ext cx="39504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workbook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3436938"/>
            <a:ext cx="670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113782"/>
            <a:ext cx="27470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Enter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3000" y="3113782"/>
            <a:ext cx="39504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 a new line inside one cell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800" y="4083248"/>
            <a:ext cx="670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529013"/>
            <a:ext cx="274701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E + I + S and Alt + H + F + I + 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83000" y="3529013"/>
            <a:ext cx="395046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Series to fill columns or rows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00" y="4713089"/>
            <a:ext cx="670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175323"/>
            <a:ext cx="274701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 range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3000" y="4175323"/>
            <a:ext cx="395046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</a:t>
            </a: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=SUM</a:t>
            </a: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press Tab, select the rows or columns, then press Enter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5342930"/>
            <a:ext cx="670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805164"/>
            <a:ext cx="274701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entire row or column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83000" y="4805164"/>
            <a:ext cx="395046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Name Box enter the cell, then press Enter while holding Shift</a:t>
            </a:r>
            <a:endParaRPr lang="en-US" sz="1300" dirty="0"/>
          </a:p>
        </p:txBody>
      </p:sp>
      <p:pic>
        <p:nvPicPr>
          <p:cNvPr id="23" name="Image 0" descr="Green backlit keyboar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1979811"/>
            <a:ext cx="3556000" cy="2000250"/>
          </a:xfrm>
          <a:prstGeom prst="roundRect">
            <a:avLst>
              <a:gd name="adj" fmla="val 5079"/>
            </a:avLst>
          </a:prstGeom>
        </p:spPr>
      </p:pic>
      <p:sp>
        <p:nvSpPr>
          <p:cNvPr id="24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MARKSHEET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Marksheet formulas and shortcuts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marks, min and max, average, and a pass or fail check (MARKS SHEET)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572147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068711"/>
            <a:ext cx="196215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Autofit cells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1000" y="2068711"/>
            <a:ext cx="499694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Right-click the sheet tab, View Code, select Worksheet, write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Cells.EntireColumn.AutoFit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969617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664222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numbers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1000" y="2664222"/>
            <a:ext cx="49969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=RANDBETWEEN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Tab, then select numbers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367088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061692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/ Max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1000" y="3061692"/>
            <a:ext cx="49969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=MIN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=MAX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Tab, then select the range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3962598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459163"/>
            <a:ext cx="196215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the numbers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1000" y="3459163"/>
            <a:ext cx="499694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=RANDBETWEEN(33,100)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D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R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C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H + V + 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4360069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054673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1000" y="4054673"/>
            <a:ext cx="49969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total, type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divide by the total number of subjects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757539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45214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column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1000" y="4452144"/>
            <a:ext cx="49969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=SUM/MIN/MAX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Tab, select the first row only, Enter, then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5353050"/>
            <a:ext cx="6959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4849614"/>
            <a:ext cx="196215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per subject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1000" y="4849614"/>
            <a:ext cx="499694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=IF(AND(D3&gt;=33,E3&gt;=33,F3&gt;=33,G3&gt;=33,H3&gt;=33,I3&gt;=33,J3&gt;=33),"pass","fail")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(D3, E3 and so on are the subjects)</a:t>
            </a:r>
            <a:endParaRPr lang="en-US" sz="1200" dirty="0"/>
          </a:p>
        </p:txBody>
      </p:sp>
      <p:pic>
        <p:nvPicPr>
          <p:cNvPr id="26" name="Image 0" descr="Glowing grid of green keys"/>
          <p:cNvPicPr>
            <a:picLocks noChangeAspect="1"/>
          </p:cNvPicPr>
          <p:nvPr/>
        </p:nvPicPr>
        <p:blipFill>
          <a:blip r:embed="rId3"/>
          <a:srcRect t="85" b="85"/>
          <a:stretch/>
        </p:blipFill>
        <p:spPr>
          <a:xfrm>
            <a:off x="8077200" y="1979811"/>
            <a:ext cx="3302000" cy="1854200"/>
          </a:xfrm>
          <a:prstGeom prst="roundRect">
            <a:avLst>
              <a:gd name="adj" fmla="val 5479"/>
            </a:avLst>
          </a:prstGeom>
        </p:spPr>
      </p:pic>
      <p:sp>
        <p:nvSpPr>
          <p:cNvPr id="27" name="Text 2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4"/>
              </a:lnSpc>
              <a:buNone/>
            </a:pPr>
            <a:r>
              <a:rPr lang="en-US" sz="1268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MARKSHEET</a:t>
            </a:r>
            <a:endParaRPr lang="en-US" sz="1268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6169"/>
            <a:ext cx="10883392" cy="397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2704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Marksheet result, rank, and compartment</a:t>
            </a:r>
            <a:endParaRPr lang="en-US" sz="2704" dirty="0"/>
          </a:p>
        </p:txBody>
      </p:sp>
      <p:sp>
        <p:nvSpPr>
          <p:cNvPr id="4" name="Text 2"/>
          <p:cNvSpPr/>
          <p:nvPr/>
        </p:nvSpPr>
        <p:spPr>
          <a:xfrm>
            <a:off x="812800" y="1532037"/>
            <a:ext cx="10883392" cy="22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1"/>
              </a:lnSpc>
              <a:buNone/>
            </a:pPr>
            <a:r>
              <a:rPr lang="en-US" sz="1247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or fail from total and percent, then rank and compartment</a:t>
            </a:r>
            <a:endParaRPr lang="en-US" sz="1247" dirty="0"/>
          </a:p>
        </p:txBody>
      </p:sp>
      <p:sp>
        <p:nvSpPr>
          <p:cNvPr id="5" name="Shape 3"/>
          <p:cNvSpPr/>
          <p:nvPr/>
        </p:nvSpPr>
        <p:spPr>
          <a:xfrm>
            <a:off x="812800" y="250338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028428"/>
            <a:ext cx="1962150" cy="40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from total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1000" y="2028428"/>
            <a:ext cx="8711946" cy="40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select the total,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marks a student needs to pass, then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,"pass","fail")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Example: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=IF(K3&gt;100,"pass","fail")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070423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595463"/>
            <a:ext cx="1962150" cy="40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from 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1000" y="2595463"/>
            <a:ext cx="8711946" cy="40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=IF(N7&gt;33,"pass","fail")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Write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select the average,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percentage a student needs to pass, then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,"pass","fail")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453110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162498"/>
            <a:ext cx="1962150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using average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1000" y="3162498"/>
            <a:ext cx="8711946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=IF(N2&gt;60,"1",IF(N2&gt;40,"2",IF(N2&lt;33,"3")))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383579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545185"/>
            <a:ext cx="1962150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using RANK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1000" y="3545185"/>
            <a:ext cx="8711946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=RANK(N2,N$2:N$12,0)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(written as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N2:N2:N12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original)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4218484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927872"/>
            <a:ext cx="1962150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1000" y="3927872"/>
            <a:ext cx="8711946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=IF(N2&gt;=7,"pass",IF(N2&gt;=2,"compartment","fail"))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601170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310559"/>
            <a:ext cx="1962150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Compartment, COUNTIF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1000" y="4310559"/>
            <a:ext cx="8711946" cy="22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=IF(COUNTIF(C3:J3,"&gt;100")=5,"pass",IF(COUNTIF(C3:J3,"&lt;100")&gt;=3,"fail","compartment"))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807545"/>
            <a:ext cx="6985000" cy="1034455"/>
          </a:xfrm>
          <a:prstGeom prst="roundRect">
            <a:avLst>
              <a:gd name="adj" fmla="val 9822"/>
            </a:avLst>
          </a:prstGeom>
          <a:solidFill>
            <a:srgbClr val="EDEBE3"/>
          </a:solidFill>
          <a:ln/>
        </p:spPr>
      </p:sp>
      <p:pic>
        <p:nvPicPr>
          <p:cNvPr id="24" name="Image 0" descr="Marksheet with result, rank and compartment colum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56" y="4807545"/>
            <a:ext cx="6745688" cy="103445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EDITING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Editing, counting and discount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309316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638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rows or columns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3500" y="1790601"/>
            <a:ext cx="34141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select, then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H + M + 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70678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401391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border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3500" y="2401391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H +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31757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798862"/>
            <a:ext cx="1638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rows and columns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3500" y="2798862"/>
            <a:ext cx="34141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Shift + 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92836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409652"/>
            <a:ext cx="1638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rows and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3500" y="3409652"/>
            <a:ext cx="34141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Shift + -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32583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02044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tables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3500" y="4020443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cells, then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723309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441791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amount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3500" y="4417913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=price*quantity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5120779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4815384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in each column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3500" y="4815384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A + E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Enter three times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5716290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5212854"/>
            <a:ext cx="16383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3500" y="5212854"/>
            <a:ext cx="3414141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=COUNT(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every row, Enter; same for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3800" y="2309316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3800" y="1790601"/>
            <a:ext cx="1638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COUNTIF less than 33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64500" y="1790601"/>
            <a:ext cx="34141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=COUNTIF(first row of subjects,"&lt;33")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3800" y="292010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3800" y="2401391"/>
            <a:ext cx="1638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COUNTIF greater than 33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64500" y="2401391"/>
            <a:ext cx="34141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=COUNTIF(first row of subjects,"&gt;33")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3800" y="353089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3800" y="3012182"/>
            <a:ext cx="1638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COUNTIF equals to 33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64500" y="3012182"/>
            <a:ext cx="34141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=COUNTIF(first row of subjects,"&gt;=33")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73800" y="392836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3800" y="362297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 cells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64500" y="3622973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=COUNTBLANK(select the range)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3800" y="432583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3800" y="402044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sheet name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64500" y="4020443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H + O + 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73800" y="4723309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3800" y="441791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discount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64500" y="4417913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=amount*discount%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(same for GST)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73800" y="5120779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3800" y="4815384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Jump to a filled cell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64500" y="4815384"/>
            <a:ext cx="3414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↑ / 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4064000"/>
          </a:xfrm>
          <a:prstGeom prst="roundRect">
            <a:avLst>
              <a:gd name="adj" fmla="val 2500"/>
            </a:avLst>
          </a:prstGeom>
          <a:solidFill>
            <a:srgbClr val="EDEBE3"/>
          </a:solidFill>
          <a:ln/>
        </p:spPr>
      </p:sp>
      <p:pic>
        <p:nvPicPr>
          <p:cNvPr id="5" name="Image 0" descr="Discount sheet with amount, discount 18%, total amount and GST colum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647" y="1701701"/>
            <a:ext cx="9032707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 fill and text to columns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9403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96215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 fill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1000" y="1790601"/>
            <a:ext cx="871194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Fills columns quickly with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E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write data from one column into each item in different cells. To write them together again use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=CONCATENATE(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select each item one by one with a comma after each.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88954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386112"/>
            <a:ext cx="196215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to 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1000" y="2386112"/>
            <a:ext cx="871194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like flash fill, but needs a space between items. Press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A + E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Enter, select Space in the menu, then Enter twice.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108623"/>
          <a:ext cx="10553700" cy="2682080"/>
        </p:xfrm>
        <a:graphic>
          <a:graphicData uri="http://schemas.openxmlformats.org/drawingml/2006/table">
            <a:tbl>
              <a:tblPr/>
              <a:tblGrid>
                <a:gridCol w="175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Email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Domain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Joined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Tushar01@gmail.com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Tushar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Tushar1@gmail.com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Sahil01@gmail.com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Sahil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Sahil1@gmail.com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Prakash01@gmail.com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Prakash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Prakash1@gmail.com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Chirag01@gmail.com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Chirag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Chirag1@gmail.com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Aarav01@gmail.com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Aarav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Aarav1@gmail.com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Vivaan01@gmail.com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Vivaan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Vivaan1@gmail.com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Aditya01@gmail.com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Aditya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Aditya1@gmail.com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PMT, IPMT and PPMT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31516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PMT (fixed payment)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1790601"/>
            <a:ext cx="81887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EMI amount: </a:t>
            </a: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=PMT(interest rate/12,total number of months,-loan amount)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56450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223591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IPMT (interest portion)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223591"/>
            <a:ext cx="81887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interest on a loan: </a:t>
            </a: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=IPMT(interest rate/12,1,total number of months,-loan amount)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299749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656582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PPMT (principal portion)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656582"/>
            <a:ext cx="81887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principal amount: </a:t>
            </a: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=PPMT(interest rate/12,1,total number of months,-loan amount)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 sheet: EMI, interest and principal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2921000"/>
          </a:xfrm>
          <a:prstGeom prst="roundRect">
            <a:avLst>
              <a:gd name="adj" fmla="val 3478"/>
            </a:avLst>
          </a:prstGeom>
          <a:solidFill>
            <a:srgbClr val="EDEBE3"/>
          </a:solidFill>
          <a:ln/>
        </p:spPr>
      </p:sp>
      <p:pic>
        <p:nvPicPr>
          <p:cNvPr id="5" name="Image 0" descr="Three loan examples using PMT, IPMT and PPM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29730"/>
            <a:ext cx="10566400" cy="2864942"/>
          </a:xfrm>
          <a:custGeom>
            <a:avLst/>
            <a:gdLst/>
            <a:ahLst/>
            <a:cxnLst/>
            <a:rect l="l" t="t" r="r" b="b"/>
            <a:pathLst>
              <a:path w="10566400" h="2864942">
                <a:moveTo>
                  <a:pt x="0" y="73571"/>
                </a:moveTo>
                <a:arcTo wR="101600" hR="101600" stAng="10800000" swAng="2783768"/>
                <a:lnTo>
                  <a:pt x="10534870" y="0"/>
                </a:lnTo>
                <a:arcTo wR="101600" hR="101600" stAng="18816232" swAng="2783768"/>
                <a:lnTo>
                  <a:pt x="10566400" y="2791371"/>
                </a:lnTo>
                <a:arcTo wR="101600" hR="101600" stAng="0" swAng="2783768"/>
                <a:lnTo>
                  <a:pt x="31530" y="2864942"/>
                </a:lnTo>
                <a:arcTo wR="101600" hR="101600" stAng="8016232" swAng="2783768"/>
                <a:close/>
              </a:path>
            </a:pathLst>
          </a:cu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sheet, sales sheet and text formulas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095996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40000" y="1790601"/>
            <a:ext cx="910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for one state: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=SUMPRODUCT(quantities,amounts,--(states="state name"))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Ctrl + D can't be used.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493466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88071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sheet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40000" y="2188071"/>
            <a:ext cx="910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sale: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=SUMIF(months,"month name",sales)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Ctrl + D can't be used.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09413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788741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2000" y="2788741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=left(text,number of letters)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49160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18621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2000" y="3186212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=right(text,number of letters)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88907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58368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32000" y="3583682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=mid(text,position of letter)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28654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98115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32000" y="3981152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=len(text)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468401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4378623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32000" y="4378623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=trim(text)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removes extra space between words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508148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4776093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32000" y="4776093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=upper(text)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5478959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5173563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32000" y="5173563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=lower(text)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3800" y="309413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3800" y="2788741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3000" y="2788741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=proper(text)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3800" y="349160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3800" y="318621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3000" y="3186212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=concat(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the texts to join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73800" y="3889077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3800" y="358368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TEXTJOIN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3000" y="3583682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=textjoin(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3800" y="428654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3800" y="398115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3000" y="3981152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=text(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73800" y="468401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3800" y="4378623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93000" y="4378623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=find(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73800" y="508148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3800" y="4776093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93000" y="4776093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=search(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sheet and product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2222500"/>
          </a:xfrm>
          <a:prstGeom prst="roundRect">
            <a:avLst>
              <a:gd name="adj" fmla="val 4571"/>
            </a:avLst>
          </a:prstGeom>
          <a:solidFill>
            <a:srgbClr val="EDEBE3"/>
          </a:solidFill>
          <a:ln/>
        </p:spPr>
      </p:sp>
      <p:pic>
        <p:nvPicPr>
          <p:cNvPr id="5" name="Image 0" descr="Sales sheet with monthly totals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812800" y="1701701"/>
            <a:ext cx="10566400" cy="2222500"/>
          </a:xfrm>
          <a:prstGeom prst="roundRect">
            <a:avLst>
              <a:gd name="adj" fmla="val 4571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2800" y="4127401"/>
            <a:ext cx="10566400" cy="1600200"/>
          </a:xfrm>
          <a:prstGeom prst="roundRect">
            <a:avLst>
              <a:gd name="adj" fmla="val 6349"/>
            </a:avLst>
          </a:prstGeom>
          <a:solidFill>
            <a:srgbClr val="EDEBE3"/>
          </a:solidFill>
          <a:ln/>
        </p:spPr>
      </p:sp>
      <p:pic>
        <p:nvPicPr>
          <p:cNvPr id="7" name="Image 1" descr="Product sheet with sales by state"/>
          <p:cNvPicPr>
            <a:picLocks noChangeAspect="1"/>
          </p:cNvPicPr>
          <p:nvPr/>
        </p:nvPicPr>
        <p:blipFill>
          <a:blip r:embed="rId4"/>
          <a:srcRect t="-63" b="-63"/>
          <a:stretch/>
        </p:blipFill>
        <p:spPr>
          <a:xfrm>
            <a:off x="812800" y="4127401"/>
            <a:ext cx="10566400" cy="16002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 title and consolidate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095996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13000" y="1790601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=INT(YEARFRAC(DOB,current date))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89718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88071"/>
            <a:ext cx="14478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by gender, as written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13000" y="2188071"/>
            <a:ext cx="3610356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=IF(C3="male","ms."&amp;C3,"mr."&amp;B3)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Female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=IF(C10="male","mr."&amp;C10,"ms."&amp;B10)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Ctrl + D can't be used.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507978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989263"/>
            <a:ext cx="1447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by gender, corrected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13000" y="2989263"/>
            <a:ext cx="36103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=IF(C3="male","Mr. "&amp;B3,"Ms. "&amp;B3)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4514850"/>
            <a:ext cx="5105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600053"/>
            <a:ext cx="1447800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13000" y="3600053"/>
            <a:ext cx="3610356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integrate data in one place: select the main table where all data should go, open Data › Consolidate, select each range and add it, then Enter.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0" y="1714401"/>
          <a:ext cx="5092700" cy="2118120"/>
        </p:xfrm>
        <a:graphic>
          <a:graphicData uri="http://schemas.openxmlformats.org/drawingml/2006/table">
            <a:tbl>
              <a:tblPr/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0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Gender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B9BEC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Title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Aarav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Mr. Aarav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Naina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Ms. Naina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Aditya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Mr. Aditya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Komal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Mr. Komal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Krishna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Ms. Krishna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4064000"/>
          </a:xfrm>
          <a:prstGeom prst="roundRect">
            <a:avLst>
              <a:gd name="adj" fmla="val 2500"/>
            </a:avLst>
          </a:prstGeom>
          <a:solidFill>
            <a:srgbClr val="EDEBE3"/>
          </a:solidFill>
          <a:ln/>
        </p:spPr>
      </p:sp>
      <p:pic>
        <p:nvPicPr>
          <p:cNvPr id="5" name="Image 0" descr="Consolidated table of items by mon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933" y="1701701"/>
            <a:ext cx="5046133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5793"/>
            <a:ext cx="10883392" cy="41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slip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2091730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86334"/>
            <a:ext cx="876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1500" y="1786334"/>
            <a:ext cx="28647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 rent allowance, on basic salary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489200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83805"/>
            <a:ext cx="876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41500" y="2183805"/>
            <a:ext cx="28647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Dearness allowance, on basic salary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084711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581275"/>
            <a:ext cx="8763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41500" y="2581275"/>
            <a:ext cx="286473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travel allowance, on basic salary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482181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176786"/>
            <a:ext cx="876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1500" y="3176786"/>
            <a:ext cx="28647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Provident fund, on total salary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879652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574256"/>
            <a:ext cx="876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1500" y="3574256"/>
            <a:ext cx="28647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total salary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277122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971727"/>
            <a:ext cx="876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1500" y="3971727"/>
            <a:ext cx="28647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days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78400" y="2495451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8400" y="1786334"/>
            <a:ext cx="10033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34100" y="1786334"/>
            <a:ext cx="2733929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deduction: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=basic salary/total working days in a month*LD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78400" y="2892921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8400" y="2587526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34100" y="2587526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Overtime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78400" y="3488432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8400" y="2984996"/>
            <a:ext cx="10033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34100" y="2984996"/>
            <a:ext cx="273392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=basic salary/24/8*OT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(24 hours in a day, 8 working hours)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78400" y="3885902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8400" y="3580507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salary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34100" y="3580507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=total salary-PF-ESI-LDA+OTA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78400" y="4283373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8400" y="3977977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salary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34100" y="3977977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=net salary*12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78400" y="4680843"/>
            <a:ext cx="38100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8400" y="4375448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34100" y="4375448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=gross salary*tax rate%</a:t>
            </a:r>
            <a:endParaRPr lang="en-US" sz="1200" dirty="0"/>
          </a:p>
        </p:txBody>
      </p:sp>
      <p:pic>
        <p:nvPicPr>
          <p:cNvPr id="40" name="Image 0" descr="Dark portrait photo"/>
          <p:cNvPicPr>
            <a:picLocks noChangeAspect="1"/>
          </p:cNvPicPr>
          <p:nvPr/>
        </p:nvPicPr>
        <p:blipFill>
          <a:blip r:embed="rId3"/>
          <a:srcRect t="80" b="80"/>
          <a:stretch/>
        </p:blipFill>
        <p:spPr>
          <a:xfrm>
            <a:off x="9093200" y="1697434"/>
            <a:ext cx="2286000" cy="3429000"/>
          </a:xfrm>
          <a:prstGeom prst="roundRect">
            <a:avLst>
              <a:gd name="adj" fmla="val 4444"/>
            </a:avLst>
          </a:prstGeom>
        </p:spPr>
      </p:pic>
      <p:sp>
        <p:nvSpPr>
          <p:cNvPr id="41" name="Text 38"/>
          <p:cNvSpPr/>
          <p:nvPr/>
        </p:nvSpPr>
        <p:spPr>
          <a:xfrm>
            <a:off x="9093200" y="5228034"/>
            <a:ext cx="235458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Photo by Unknown Author is licensed under CC BY-NC-ND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slip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4064000"/>
          </a:xfrm>
          <a:prstGeom prst="roundRect">
            <a:avLst>
              <a:gd name="adj" fmla="val 2500"/>
            </a:avLst>
          </a:prstGeom>
          <a:solidFill>
            <a:srgbClr val="EDEBE3"/>
          </a:solidFill>
          <a:ln/>
        </p:spPr>
      </p:sp>
      <p:pic>
        <p:nvPicPr>
          <p:cNvPr id="5" name="Image 0" descr="Salary slip with basic, HRA, DA, LTA, PF, ESI, net salary and ta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146" y="1701701"/>
            <a:ext cx="7003708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validation, VLOOKUP and HLOOKUP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9403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7018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7000" y="1790601"/>
            <a:ext cx="897356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› Data Validation, choose List in the first box, select all product names as the source, then Enter. Ctrl + D can be used.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9150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386112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SUMIF on the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0" y="2386112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=SUMIF(select whole table,validated cell,select whole amount)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example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=SUMIF(A3:C10,J5,C3:C10)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28701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783582"/>
            <a:ext cx="17018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VLOOKUP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7000" y="2783582"/>
            <a:ext cx="897356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Looks up data down a column: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=VLOOKUP(unique id,whole table,column number,0/1)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example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=VLOOKUP(M15,A1:J51,4,0)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68448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379093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HLOOKUP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7000" y="3379093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Looks up data across a row: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=HLOOKUP(value,whole table,row number,0/1)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example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=HLOOKUP(G2,A2:J51,3,0)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validation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4064000"/>
          </a:xfrm>
          <a:prstGeom prst="roundRect">
            <a:avLst>
              <a:gd name="adj" fmla="val 2500"/>
            </a:avLst>
          </a:prstGeom>
          <a:solidFill>
            <a:srgbClr val="EDEBE3"/>
          </a:solidFill>
          <a:ln/>
        </p:spPr>
      </p:sp>
      <p:pic>
        <p:nvPicPr>
          <p:cNvPr id="5" name="Image 0" descr="Product list with a validated dropdown and SUMIF tot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435" y="1701701"/>
            <a:ext cx="4277130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by and Alt + D + 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551212"/>
            <a:ext cx="6197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79070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empty cells fast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3500" y="1790601"/>
            <a:ext cx="4539107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sort: select the whole table, </a:t>
            </a: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G</a:t>
            </a: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click Special, select Blanks, then Enter. It fills each blank with the data just above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3181052"/>
            <a:ext cx="6197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43287"/>
            <a:ext cx="163830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D + 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3500" y="2643287"/>
            <a:ext cx="453910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format, do the first entry, select all, press </a:t>
            </a:r>
            <a:r>
              <a:rPr lang="en-US" sz="13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D + O</a:t>
            </a:r>
            <a:r>
              <a:rPr lang="en-US" sz="13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do the entries.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701701"/>
            <a:ext cx="4064000" cy="2540000"/>
          </a:xfrm>
          <a:prstGeom prst="roundRect">
            <a:avLst>
              <a:gd name="adj" fmla="val 4000"/>
            </a:avLst>
          </a:prstGeom>
          <a:solidFill>
            <a:srgbClr val="EDEBE3"/>
          </a:solidFill>
          <a:ln/>
        </p:spPr>
      </p:sp>
      <p:pic>
        <p:nvPicPr>
          <p:cNvPr id="11" name="Image 0" descr="Table with name, region, item and quant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47118"/>
            <a:ext cx="4064000" cy="2449166"/>
          </a:xfrm>
          <a:custGeom>
            <a:avLst/>
            <a:gdLst/>
            <a:ahLst/>
            <a:cxnLst/>
            <a:rect l="l" t="t" r="r" b="b"/>
            <a:pathLst>
              <a:path w="4064000" h="2449166">
                <a:moveTo>
                  <a:pt x="0" y="56183"/>
                </a:moveTo>
                <a:arcTo wR="101600" hR="101600" stAng="10800000" swAng="2014302"/>
                <a:lnTo>
                  <a:pt x="4047053" y="0"/>
                </a:lnTo>
                <a:arcTo wR="101600" hR="101600" stAng="19585698" swAng="2014302"/>
                <a:lnTo>
                  <a:pt x="4064000" y="2392983"/>
                </a:lnTo>
                <a:arcTo wR="101600" hR="101600" stAng="0" swAng="2014302"/>
                <a:lnTo>
                  <a:pt x="16947" y="2449166"/>
                </a:lnTo>
                <a:arcTo wR="101600" hR="101600" stAng="8785698" swAng="2014302"/>
                <a:close/>
              </a:path>
            </a:pathLst>
          </a:custGeom>
        </p:spPr>
      </p:pic>
      <p:sp>
        <p:nvSpPr>
          <p:cNvPr id="12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web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01701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get data from online sources: just enter the exact URL of the website.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162076"/>
            <a:ext cx="6350000" cy="2006600"/>
          </a:xfrm>
          <a:prstGeom prst="roundRect">
            <a:avLst>
              <a:gd name="adj" fmla="val 5063"/>
            </a:avLst>
          </a:prstGeom>
          <a:solidFill>
            <a:srgbClr val="EDEBE3"/>
          </a:solidFill>
          <a:ln/>
        </p:spPr>
      </p:sp>
      <p:pic>
        <p:nvPicPr>
          <p:cNvPr id="6" name="Image 0" descr="From Web dialog with a URL box"/>
          <p:cNvPicPr>
            <a:picLocks noChangeAspect="1"/>
          </p:cNvPicPr>
          <p:nvPr/>
        </p:nvPicPr>
        <p:blipFill>
          <a:blip r:embed="rId3"/>
          <a:srcRect l="-203" r="-203"/>
          <a:stretch/>
        </p:blipFill>
        <p:spPr>
          <a:xfrm>
            <a:off x="812800" y="2162076"/>
            <a:ext cx="6350000" cy="2006600"/>
          </a:xfrm>
          <a:prstGeom prst="roundRect">
            <a:avLst>
              <a:gd name="adj" fmla="val 5063"/>
            </a:avLst>
          </a:prstGeom>
        </p:spPr>
      </p:pic>
      <p:sp>
        <p:nvSpPr>
          <p:cNvPr id="7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19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Connections and quick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9403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7018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connections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7000" y="1790601"/>
            <a:ext cx="897356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get data from an online source, Excel keeps a connection to that website, so you can click this option and get the data directly without entering anything.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9150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386112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Subtotal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0" y="2386112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the sum total of the selected columns.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08897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783582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7000" y="2783582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repeated data: select the columns that have duplicate items.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48644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181052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Shift + 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7000" y="3181052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88391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578523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 + Shift + 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67000" y="3578523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new folder. To save it without a name hold Alt, write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255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Enter.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28138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975993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+ H + O + 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67000" y="3975993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cells.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4678859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4373463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and trim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67000" y="4373463"/>
            <a:ext cx="8973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=PROPER(TRIM(text))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You can combine others the same way.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Date, time and lookup formulas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095996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/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790601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=TODAY()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=NOW()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493466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88071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188071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=DATE(year,month,day)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89093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585541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585541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=TIME(hour,minute,second)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28840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2983012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983012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=WEEKDAY(serial_number,[return_type])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a date to see which day it 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685877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380482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380482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=DATEVALUE(date_text)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write the date as 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08334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777952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777952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=EDATE(start_date,months)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adds months and shows the exact day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448081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4175423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Eomonth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175423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=EOMONTH(start_date,months)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adds months and shows the last day of the 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4878288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4572893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572893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=DB(cost,salvage,life,period,[month])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depreciation with the fixed declining balance (WDV) method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5275759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4970363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Xlookup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970363"/>
            <a:ext cx="9365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=XLOOKUP(value,unique column,rest of the information)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2"/>
              </a:lnSpc>
              <a:buNone/>
            </a:pPr>
            <a:r>
              <a:rPr lang="en-US" sz="1194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94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3667"/>
            <a:ext cx="10883392" cy="376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72"/>
              </a:lnSpc>
              <a:buNone/>
            </a:pPr>
            <a:r>
              <a:rPr lang="en-US" sz="252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PROPER, LOWER and UPPER with TRIM</a:t>
            </a:r>
            <a:endParaRPr lang="en-US" sz="2520" dirty="0"/>
          </a:p>
        </p:txBody>
      </p:sp>
      <p:sp>
        <p:nvSpPr>
          <p:cNvPr id="4" name="Shape 2"/>
          <p:cNvSpPr/>
          <p:nvPr/>
        </p:nvSpPr>
        <p:spPr>
          <a:xfrm>
            <a:off x="812800" y="2027535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26803"/>
            <a:ext cx="1962150" cy="23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and trim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1000" y="1726803"/>
            <a:ext cx="8711946" cy="23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=PROPER(TRIM(A2))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420243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19610"/>
            <a:ext cx="196215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 and trim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1000" y="2119610"/>
            <a:ext cx="8711946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=UPPER(TRIM(A2))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2813050"/>
            <a:ext cx="105664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512318"/>
            <a:ext cx="1962150" cy="23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and trim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1000" y="2512318"/>
            <a:ext cx="8711946" cy="23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=LOWER(TRIM(A2))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019425"/>
            <a:ext cx="6985000" cy="2822575"/>
          </a:xfrm>
          <a:prstGeom prst="roundRect">
            <a:avLst>
              <a:gd name="adj" fmla="val 3600"/>
            </a:avLst>
          </a:prstGeom>
          <a:solidFill>
            <a:srgbClr val="EDEBE3"/>
          </a:solidFill>
          <a:ln/>
        </p:spPr>
      </p:sp>
      <p:pic>
        <p:nvPicPr>
          <p:cNvPr id="14" name="Image 0" descr="Names cleaned with proper, upper and lower plus tr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86" y="3019425"/>
            <a:ext cx="6334829" cy="282257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01701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=OFFSET(reference,MATCH(value,array,0),1,height,width)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44911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</a:t>
            </a:r>
            <a:r>
              <a:rPr lang="en-US" sz="14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=OFFSET(A2,MATCH(O3,A3:A52,0),1,2,12)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588121"/>
            <a:ext cx="10566400" cy="2794000"/>
          </a:xfrm>
          <a:prstGeom prst="roundRect">
            <a:avLst>
              <a:gd name="adj" fmla="val 3636"/>
            </a:avLst>
          </a:prstGeom>
          <a:solidFill>
            <a:srgbClr val="EDEBE3"/>
          </a:solidFill>
          <a:ln/>
        </p:spPr>
      </p:sp>
      <p:pic>
        <p:nvPicPr>
          <p:cNvPr id="7" name="Image 0" descr="Offset function table of names by mon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47" y="2588121"/>
            <a:ext cx="10236707" cy="279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FORMATTING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letters and conditional formatting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095996"/>
            <a:ext cx="543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9060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letters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13000" y="1790601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=IF(RANDBETWEEN(1,10)&lt;=7,"P","R")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3308548"/>
            <a:ext cx="5435600" cy="0"/>
          </a:xfrm>
          <a:prstGeom prst="line">
            <a:avLst/>
          </a:prstGeom>
          <a:noFill/>
          <a:ln w="6350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88071"/>
            <a:ext cx="1447800" cy="105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formatting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13000" y="2188071"/>
            <a:ext cx="3950462" cy="105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whole table, open New Rule, choose the last option, edit the rule description: select the cell to format from, type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select what to format (you can also change the formatting), press </a:t>
            </a:r>
            <a:r>
              <a:rPr lang="en-US" sz="1200" b="1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F4</a:t>
            </a:r>
            <a:r>
              <a:rPr lang="en-US" sz="120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twice, then Enter.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200" y="1701701"/>
            <a:ext cx="4826000" cy="3111500"/>
          </a:xfrm>
          <a:prstGeom prst="roundRect">
            <a:avLst>
              <a:gd name="adj" fmla="val 3265"/>
            </a:avLst>
          </a:prstGeom>
          <a:solidFill>
            <a:srgbClr val="EDEBE3"/>
          </a:solidFill>
          <a:ln/>
        </p:spPr>
      </p:sp>
      <p:pic>
        <p:nvPicPr>
          <p:cNvPr id="11" name="Image 0" descr="New Formatting Rule dialog with a formula"/>
          <p:cNvPicPr>
            <a:picLocks noChangeAspect="1"/>
          </p:cNvPicPr>
          <p:nvPr/>
        </p:nvPicPr>
        <p:blipFill>
          <a:blip r:embed="rId3"/>
          <a:srcRect t="-61" b="-61"/>
          <a:stretch/>
        </p:blipFill>
        <p:spPr>
          <a:xfrm>
            <a:off x="6553200" y="1701701"/>
            <a:ext cx="4826000" cy="3111500"/>
          </a:xfrm>
          <a:prstGeom prst="roundRect">
            <a:avLst>
              <a:gd name="adj" fmla="val 3265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4CC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73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attendance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01701"/>
            <a:ext cx="10566400" cy="4064000"/>
          </a:xfrm>
          <a:prstGeom prst="roundRect">
            <a:avLst>
              <a:gd name="adj" fmla="val 2500"/>
            </a:avLst>
          </a:prstGeom>
          <a:solidFill>
            <a:srgbClr val="EDEBE3"/>
          </a:solidFill>
          <a:ln/>
        </p:spPr>
      </p:sp>
      <p:pic>
        <p:nvPicPr>
          <p:cNvPr id="5" name="Image 0" descr="Employee attendance sheet by day with present and absent tot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403" y="1701701"/>
            <a:ext cx="7067194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shortcut keys and formulas  ·  25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xcel Shortcut Keys and Formulas">
  <a:themeElements>
    <a:clrScheme name="Excel Shortcut Keys and Formulas">
      <a:dk1>
        <a:srgbClr val="16191D"/>
      </a:dk1>
      <a:lt1>
        <a:srgbClr val="F4F3EE"/>
      </a:lt1>
      <a:dk2>
        <a:srgbClr val="2C2F32"/>
      </a:dk2>
      <a:lt2>
        <a:srgbClr val="BDBDBA"/>
      </a:lt2>
      <a:accent1>
        <a:srgbClr val="4CC38A"/>
      </a:accent1>
      <a:accent2>
        <a:srgbClr val="1E7A4C"/>
      </a:accent2>
      <a:accent3>
        <a:srgbClr val="F0B14A"/>
      </a:accent3>
      <a:accent4>
        <a:srgbClr val="B9BEC4"/>
      </a:accent4>
      <a:accent5>
        <a:srgbClr val="9AA0A6"/>
      </a:accent5>
      <a:accent6>
        <a:srgbClr val="9B9C9A"/>
      </a:accent6>
      <a:hlink>
        <a:srgbClr val="0563C1"/>
      </a:hlink>
      <a:folHlink>
        <a:srgbClr val="954F72"/>
      </a:folHlink>
    </a:clrScheme>
    <a:fontScheme name="Excel Shortcut Keys and Formula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2255</Words>
  <Application>Microsoft Office PowerPoint</Application>
  <PresentationFormat>Widescreen</PresentationFormat>
  <Paragraphs>372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Inter</vt:lpstr>
      <vt:lpstr>JetBrains Mono</vt:lpstr>
      <vt:lpstr>Excel Shortcut Keys and Formulas</vt:lpstr>
      <vt:lpstr>Excel shortcut keys and formulas </vt:lpstr>
      <vt:lpstr>Excel shortcut keys</vt:lpstr>
      <vt:lpstr>Marksheet formulas and shortcuts</vt:lpstr>
      <vt:lpstr>Marksheet result, rank, and compartment</vt:lpstr>
      <vt:lpstr>Editing, counting and discount</vt:lpstr>
      <vt:lpstr>Discount sheet</vt:lpstr>
      <vt:lpstr>Flash fill and text to columns</vt:lpstr>
      <vt:lpstr>PMT, IPMT and PPMT</vt:lpstr>
      <vt:lpstr>Loan sheet: EMI, interest and principal</vt:lpstr>
      <vt:lpstr>Product sheet, sales sheet and text formulas</vt:lpstr>
      <vt:lpstr>Sales sheet and product sheet</vt:lpstr>
      <vt:lpstr>Age, gender title and consolidate</vt:lpstr>
      <vt:lpstr>Consolidate example</vt:lpstr>
      <vt:lpstr>Salary slip</vt:lpstr>
      <vt:lpstr>Salary slip sheet</vt:lpstr>
      <vt:lpstr>Data validation, VLOOKUP and HLOOKUP</vt:lpstr>
      <vt:lpstr>Data validation sheet</vt:lpstr>
      <vt:lpstr>Sort by and Alt + D + O</vt:lpstr>
      <vt:lpstr>From web</vt:lpstr>
      <vt:lpstr>Connections and quick tools</vt:lpstr>
      <vt:lpstr>Date, time and lookup formulas</vt:lpstr>
      <vt:lpstr>PROPER, LOWER and UPPER with TRIM</vt:lpstr>
      <vt:lpstr>Offset</vt:lpstr>
      <vt:lpstr>Random letters and conditional formatting</vt:lpstr>
      <vt:lpstr>Employee attendance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Shortcut Keys and Formulas</dc:title>
  <dc:subject/>
  <dc:creator/>
  <cp:lastModifiedBy>Tushar kumar</cp:lastModifiedBy>
  <cp:revision>1</cp:revision>
  <dcterms:created xsi:type="dcterms:W3CDTF">2026-10-09T06:36:06Z</dcterms:created>
  <dcterms:modified xsi:type="dcterms:W3CDTF">2026-10-16T10:54:09Z</dcterms:modified>
</cp:coreProperties>
</file>