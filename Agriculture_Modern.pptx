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3651952-DA69-9CAE-EA71-8C47205B99EA}">
          <p14:sldIdLst>
            <p14:sldId id="256"/>
            <p14:sldId id="257"/>
            <p14:sldId id="258"/>
          </p14:sldIdLst>
        </p14:section>
        <p14:section name="Farming Today" id="{8BCB4F81-6122-EF45-2879-B8CD1FC36E91}">
          <p14:sldIdLst>
            <p14:sldId id="259"/>
            <p14:sldId id="260"/>
            <p14:sldId id="261"/>
          </p14:sldIdLst>
        </p14:section>
        <p14:section name="Technology &amp; Future" id="{580B5CA6-C7C1-7DBF-ACF0-CBF5349ED7C2}">
          <p14:sldIdLst>
            <p14:sldId id="262"/>
            <p14:sldId id="263"/>
            <p14:sldId id="264"/>
          </p14:sldIdLst>
        </p14:section>
        <p14:section name="Close" id="{29DF57DF-328C-47B1-EECC-965DE2B6545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2B0249-B374-4D76-ADDE-F2A9DFC4A79A}" v="1" dt="2026-10-16T10:52:30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kumar" userId="6f69711755cde1a6" providerId="LiveId" clId="{0AAE3268-0AEB-4709-A1E5-5E5AA297D685}"/>
    <pc:docChg chg="modSld">
      <pc:chgData name="Tushar kumar" userId="6f69711755cde1a6" providerId="LiveId" clId="{0AAE3268-0AEB-4709-A1E5-5E5AA297D685}" dt="2026-10-16T10:52:31.921" v="2"/>
      <pc:docMkLst>
        <pc:docMk/>
      </pc:docMkLst>
      <pc:sldChg chg="addSp delSp modSp mod">
        <pc:chgData name="Tushar kumar" userId="6f69711755cde1a6" providerId="LiveId" clId="{0AAE3268-0AEB-4709-A1E5-5E5AA297D685}" dt="2026-10-16T10:52:31.921" v="2"/>
        <pc:sldMkLst>
          <pc:docMk/>
          <pc:sldMk cId="0" sldId="257"/>
        </pc:sldMkLst>
        <pc:spChg chg="add del mod">
          <ac:chgData name="Tushar kumar" userId="6f69711755cde1a6" providerId="LiveId" clId="{0AAE3268-0AEB-4709-A1E5-5E5AA297D685}" dt="2026-10-16T10:52:31.921" v="2"/>
          <ac:spMkLst>
            <pc:docMk/>
            <pc:sldMk cId="0" sldId="257"/>
            <ac:spMk id="17" creationId="{0C7EA3DF-429C-D0E9-1699-0BC3DD8653A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7048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Open by framing agriculture as the foundation of food, livelihoods and civilization. This deck moves from what agriculture is, through its types, value and technology, to a sustainable future. Suggested transition: Fade or Morph.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agriculture simply: cultivating plants and rearing animals for food, fibre and other products. Stress that modern agriculture blends traditional knowledge with science and technology, and underpins food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approximate global figures to show the scale of agriculture: a large share of employment, land and freshwater use, and the food supply for the whole population. Figures are rounded; confirm against the latest FAO, ILO and World Bank releases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broad systems: subsistence (for the family), commercial (for markets), organic (natural inputs, soil health) and mixed (crops plus livestock). Different systems suit different environments and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ways agriculture touches everyday life: it feeds people, creates jobs across the value chain, supplies raw materials to industry and sustains rural communities.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cycle: prepare soil, sow, irrigate and protect, harvest, then store and market. Highlight that losses after harvest are a major opportunity, which leads into the sustainability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technologies: machinery saves labour, drip irrigation saves water, drones and sensors enable precision monitoring, and improved seeds raise yield and resilience. Smart technology helps farmers use resources more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each challenge with a practical response: climate stress with resilient seeds, water scarcity with smart irrigation, soil degradation with soil care and food loss with better storage and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practical pillars: use water efficiently, keep soil healthy and cut waste. Close with the central message: the future depends on balancing productivity with sustainability and responsible use of natural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 Leave the three takeaways on screen: healthy soil, smart water use, food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AGRICULTURE  •  From soil to society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566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AGRICULTURE  •  From soil to society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C95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97280" y="251460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097280" y="370332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566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eld at sunrise" descr="Green crop field at sunri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panel"/>
          <p:cNvSpPr/>
          <p:nvPr/>
        </p:nvSpPr>
        <p:spPr>
          <a:xfrm>
            <a:off x="640080" y="1325880"/>
            <a:ext cx="6858000" cy="3657600"/>
          </a:xfrm>
          <a:prstGeom prst="roundRect">
            <a:avLst>
              <a:gd name="adj" fmla="val 4500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eedling circle"/>
          <p:cNvSpPr/>
          <p:nvPr/>
        </p:nvSpPr>
        <p:spPr>
          <a:xfrm>
            <a:off x="1097280" y="17373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Seedling icon" descr="Seedl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1897380"/>
            <a:ext cx="320040" cy="320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920240" y="1737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3"/>
                </a:solidFill>
              </a:rPr>
              <a:t>MODERN AGRICULTURE</a:t>
            </a:r>
            <a:endParaRPr lang="en-US" sz="1400" dirty="0"/>
          </a:p>
        </p:txBody>
      </p:sp>
      <p:sp>
        <p:nvSpPr>
          <p:cNvPr id="7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97280" y="25146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Agriculture</a:t>
            </a:r>
            <a:endParaRPr lang="en-US" sz="6000" dirty="0"/>
          </a:p>
        </p:txBody>
      </p:sp>
      <p:sp>
        <p:nvSpPr>
          <p:cNvPr id="8" name="Text 1"/>
          <p:cNvSpPr>
            <a:spLocks noGrp="1"/>
          </p:cNvSpPr>
          <p:nvPr>
            <p:ph type="body" idx="102" hasCustomPrompt="1"/>
          </p:nvPr>
        </p:nvSpPr>
        <p:spPr>
          <a:xfrm>
            <a:off x="1097280" y="3703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</a:rPr>
              <a:t>The foundation of food, livelihoods and civilization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wy leaves" descr="Green leaves with dew dro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4114800" cy="4663440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is Agriculture?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212080" y="146304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practice of growing crops and raising animals for human needs.</a:t>
            </a:r>
            <a:endParaRPr lang="en-US" sz="2000" dirty="0"/>
          </a:p>
        </p:txBody>
      </p:sp>
      <p:sp>
        <p:nvSpPr>
          <p:cNvPr id="5" name="Cultivation &amp; rearing circle"/>
          <p:cNvSpPr/>
          <p:nvPr/>
        </p:nvSpPr>
        <p:spPr>
          <a:xfrm>
            <a:off x="5212080" y="2514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ultivation &amp; rearing icon" descr="Cultivation &amp; rear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26746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80760" y="242316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Cultivation &amp; rearing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Growing plants and raising animals for food, fibre and other useful products.</a:t>
            </a:r>
            <a:endParaRPr lang="en-US" sz="1800" dirty="0"/>
          </a:p>
        </p:txBody>
      </p:sp>
      <p:sp>
        <p:nvSpPr>
          <p:cNvPr id="8" name="Core activities circle"/>
          <p:cNvSpPr/>
          <p:nvPr/>
        </p:nvSpPr>
        <p:spPr>
          <a:xfrm>
            <a:off x="5212080" y="342900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Core activities icon" descr="Core activiti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00" y="358902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080760" y="333756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Core activities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Ploughing, sowing, irrigation, harvesting and livestock management.</a:t>
            </a:r>
            <a:endParaRPr lang="en-US" sz="1800" dirty="0"/>
          </a:p>
        </p:txBody>
      </p:sp>
      <p:sp>
        <p:nvSpPr>
          <p:cNvPr id="11" name="Tradition meets science circle"/>
          <p:cNvSpPr/>
          <p:nvPr/>
        </p:nvSpPr>
        <p:spPr>
          <a:xfrm>
            <a:off x="5212080" y="43434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Tradition meets science icon" descr="Tradition meets scien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2100" y="450342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080760" y="425196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Tradition meets science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Traditional knowledge combined with machinery and modern technology.</a:t>
            </a:r>
            <a:endParaRPr lang="en-US" sz="1800" dirty="0"/>
          </a:p>
        </p:txBody>
      </p:sp>
      <p:sp>
        <p:nvSpPr>
          <p:cNvPr id="14" name="Food security &amp; livelihoods circle"/>
          <p:cNvSpPr/>
          <p:nvPr/>
        </p:nvSpPr>
        <p:spPr>
          <a:xfrm>
            <a:off x="5212080" y="52578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Food security &amp; livelihoods icon" descr="Food security &amp; livelihood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2100" y="541782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080760" y="516636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Food security &amp; livelihoods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Feeds communities and provides work for millions of people.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566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Agriculture at a Glance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640080" y="1554480"/>
            <a:ext cx="3383280" cy="2057400"/>
          </a:xfrm>
          <a:prstGeom prst="roundRect">
            <a:avLst>
              <a:gd name="adj" fmla="val 6222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4" name="Stat 1 circle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Stat 1 icon" descr="Sta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89738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331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~26%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of the world's workers are employed in agriculture</a:t>
            </a:r>
            <a:endParaRPr lang="en-US" sz="1400" dirty="0"/>
          </a:p>
        </p:txBody>
      </p:sp>
      <p:sp>
        <p:nvSpPr>
          <p:cNvPr id="8" name="Stat card 2"/>
          <p:cNvSpPr/>
          <p:nvPr/>
        </p:nvSpPr>
        <p:spPr>
          <a:xfrm>
            <a:off x="4297680" y="1554480"/>
            <a:ext cx="3383280" cy="2057400"/>
          </a:xfrm>
          <a:prstGeom prst="roundRect">
            <a:avLst>
              <a:gd name="adj" fmla="val 6222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9" name="Stat 2 circle"/>
          <p:cNvSpPr/>
          <p:nvPr/>
        </p:nvSpPr>
        <p:spPr>
          <a:xfrm>
            <a:off x="4572000" y="17830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Stat 2 icon" descr="Stat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8973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3317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~38%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of the planet's land is used for crops and grazing</a:t>
            </a:r>
            <a:endParaRPr lang="en-US" sz="1400" dirty="0"/>
          </a:p>
        </p:txBody>
      </p:sp>
      <p:sp>
        <p:nvSpPr>
          <p:cNvPr id="13" name="Stat card 3"/>
          <p:cNvSpPr/>
          <p:nvPr/>
        </p:nvSpPr>
        <p:spPr>
          <a:xfrm>
            <a:off x="640080" y="3794760"/>
            <a:ext cx="3383280" cy="2057400"/>
          </a:xfrm>
          <a:prstGeom prst="roundRect">
            <a:avLst>
              <a:gd name="adj" fmla="val 6222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4" name="Stat 3 circle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Stat 3 icon" descr="Stat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4137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" y="45720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~70%</a:t>
            </a:r>
            <a:endParaRPr lang="en-US" sz="4000" dirty="0"/>
          </a:p>
        </p:txBody>
      </p:sp>
      <p:sp>
        <p:nvSpPr>
          <p:cNvPr id="17" name="Text 12"/>
          <p:cNvSpPr txBox="1"/>
          <p:nvPr/>
        </p:nvSpPr>
        <p:spPr>
          <a:xfrm>
            <a:off x="914400" y="5212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of global freshwater withdrawals go to farming</a:t>
            </a:r>
            <a:endParaRPr lang="en-US" sz="1400" dirty="0"/>
          </a:p>
        </p:txBody>
      </p:sp>
      <p:sp>
        <p:nvSpPr>
          <p:cNvPr id="18" name="Stat card 4"/>
          <p:cNvSpPr/>
          <p:nvPr/>
        </p:nvSpPr>
        <p:spPr>
          <a:xfrm>
            <a:off x="4297680" y="3794760"/>
            <a:ext cx="3383280" cy="2057400"/>
          </a:xfrm>
          <a:prstGeom prst="roundRect">
            <a:avLst>
              <a:gd name="adj" fmla="val 6222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9" name="Stat 4 circle"/>
          <p:cNvSpPr/>
          <p:nvPr/>
        </p:nvSpPr>
        <p:spPr>
          <a:xfrm>
            <a:off x="4572000" y="40233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tat 4 icon" descr="Stat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41376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572000" y="45720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8 billion+</a:t>
            </a:r>
            <a:endParaRPr lang="en-US" sz="40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0" y="5212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people depend on agriculture for daily food</a:t>
            </a:r>
            <a:endParaRPr lang="en-US" sz="1400" dirty="0"/>
          </a:p>
        </p:txBody>
      </p:sp>
      <p:pic>
        <p:nvPicPr>
          <p:cNvPr id="23" name="Wheat and fruit" descr="Wheat ears with apples and grains in bowl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1554480"/>
            <a:ext cx="3593592" cy="452628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40080" y="60533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Approximate global figures. Sources: FAO, ILO, World Bank.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C95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Major Types of Agriculture</a:t>
            </a:r>
            <a:endParaRPr lang="en-US" sz="3600" dirty="0"/>
          </a:p>
        </p:txBody>
      </p:sp>
      <p:pic>
        <p:nvPicPr>
          <p:cNvPr id="3" name="Crop field" descr="Rows of crops in a fie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3566160" cy="4480560"/>
          </a:xfrm>
          <a:prstGeom prst="rect">
            <a:avLst/>
          </a:prstGeom>
        </p:spPr>
      </p:pic>
      <p:sp>
        <p:nvSpPr>
          <p:cNvPr id="4" name="Subsistence card"/>
          <p:cNvSpPr/>
          <p:nvPr/>
        </p:nvSpPr>
        <p:spPr>
          <a:xfrm>
            <a:off x="4480560" y="1554480"/>
            <a:ext cx="342900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ubsistence circle"/>
          <p:cNvSpPr/>
          <p:nvPr/>
        </p:nvSpPr>
        <p:spPr>
          <a:xfrm>
            <a:off x="4709160" y="178308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6" name="Subsistence icon" descr="Subsiste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931670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4068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Subsistence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709160" y="2514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Grown mainly for the farmer's own family. Common on small holdings in developing regions.</a:t>
            </a:r>
            <a:endParaRPr lang="en-US" sz="1400" dirty="0"/>
          </a:p>
        </p:txBody>
      </p:sp>
      <p:sp>
        <p:nvSpPr>
          <p:cNvPr id="9" name="Commercial card"/>
          <p:cNvSpPr/>
          <p:nvPr/>
        </p:nvSpPr>
        <p:spPr>
          <a:xfrm>
            <a:off x="8092440" y="1554480"/>
            <a:ext cx="342900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Commercial circle"/>
          <p:cNvSpPr/>
          <p:nvPr/>
        </p:nvSpPr>
        <p:spPr>
          <a:xfrm>
            <a:off x="8321040" y="1783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ommercial icon" descr="Commerci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630" y="193167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52560" y="1783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Commercial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8321040" y="251460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Produced for markets and profit at larger scale, using modern machinery and inputs.</a:t>
            </a:r>
            <a:endParaRPr lang="en-US" sz="1400" dirty="0"/>
          </a:p>
        </p:txBody>
      </p:sp>
      <p:sp>
        <p:nvSpPr>
          <p:cNvPr id="14" name="Organic card"/>
          <p:cNvSpPr/>
          <p:nvPr/>
        </p:nvSpPr>
        <p:spPr>
          <a:xfrm>
            <a:off x="4480560" y="3931920"/>
            <a:ext cx="342900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Organic circle"/>
          <p:cNvSpPr/>
          <p:nvPr/>
        </p:nvSpPr>
        <p:spPr>
          <a:xfrm>
            <a:off x="4709160" y="416052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Organic icon" descr="Organi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430911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40680" y="4160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Organic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4709160" y="48920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Natural inputs and few synthetic chemicals. Builds soil health and biodiversity.</a:t>
            </a:r>
            <a:endParaRPr lang="en-US" sz="1400" dirty="0"/>
          </a:p>
        </p:txBody>
      </p:sp>
      <p:sp>
        <p:nvSpPr>
          <p:cNvPr id="19" name="Mixed Farming card"/>
          <p:cNvSpPr/>
          <p:nvPr/>
        </p:nvSpPr>
        <p:spPr>
          <a:xfrm>
            <a:off x="8092440" y="3931920"/>
            <a:ext cx="3429000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Mixed Farming circle"/>
          <p:cNvSpPr/>
          <p:nvPr/>
        </p:nvSpPr>
        <p:spPr>
          <a:xfrm>
            <a:off x="8321040" y="416052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Mixed Farming icon" descr="Mixed Farm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9630" y="4309110"/>
            <a:ext cx="297180" cy="2971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052560" y="4160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Mixed Farming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8321040" y="48920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Crops combined with livestock. Diversified output improves resilience and steady income.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566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esh produce" descr="Broccoli, peppers, carrots and ka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Importance of Agriculture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34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Why agriculture matters to everyday life</a:t>
            </a:r>
            <a:endParaRPr lang="en-US" sz="1600" dirty="0"/>
          </a:p>
        </p:txBody>
      </p:sp>
      <p:sp>
        <p:nvSpPr>
          <p:cNvPr id="5" name="Food card"/>
          <p:cNvSpPr/>
          <p:nvPr/>
        </p:nvSpPr>
        <p:spPr>
          <a:xfrm>
            <a:off x="640080" y="1783080"/>
            <a:ext cx="3337560" cy="2011680"/>
          </a:xfrm>
          <a:prstGeom prst="roundRect">
            <a:avLst>
              <a:gd name="adj" fmla="val 6364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6" name="Food circle"/>
          <p:cNvSpPr/>
          <p:nvPr/>
        </p:nvSpPr>
        <p:spPr>
          <a:xfrm>
            <a:off x="868680" y="19842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Food icon" descr="Foo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214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984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Food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697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Supplies cereals, pulses, fruits, vegetables and milk for daily nutrition worldwide.</a:t>
            </a:r>
            <a:endParaRPr lang="en-US" sz="1400" dirty="0"/>
          </a:p>
        </p:txBody>
      </p:sp>
      <p:sp>
        <p:nvSpPr>
          <p:cNvPr id="10" name="Jobs card"/>
          <p:cNvSpPr/>
          <p:nvPr/>
        </p:nvSpPr>
        <p:spPr>
          <a:xfrm>
            <a:off x="4206240" y="1783080"/>
            <a:ext cx="3337560" cy="2011680"/>
          </a:xfrm>
          <a:prstGeom prst="roundRect">
            <a:avLst>
              <a:gd name="adj" fmla="val 6364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1" name="Jobs circle"/>
          <p:cNvSpPr/>
          <p:nvPr/>
        </p:nvSpPr>
        <p:spPr>
          <a:xfrm>
            <a:off x="4434840" y="19842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Jobs icon" descr="Job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12140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20640" y="1984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Jobs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4434840" y="2697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Creates work in farming, transport, processing, storage and trade.</a:t>
            </a:r>
            <a:endParaRPr lang="en-US" sz="1400" dirty="0"/>
          </a:p>
        </p:txBody>
      </p:sp>
      <p:sp>
        <p:nvSpPr>
          <p:cNvPr id="15" name="Industry card"/>
          <p:cNvSpPr/>
          <p:nvPr/>
        </p:nvSpPr>
        <p:spPr>
          <a:xfrm>
            <a:off x="640080" y="3977640"/>
            <a:ext cx="3337560" cy="2011680"/>
          </a:xfrm>
          <a:prstGeom prst="roundRect">
            <a:avLst>
              <a:gd name="adj" fmla="val 6364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6" name="Industry circle"/>
          <p:cNvSpPr/>
          <p:nvPr/>
        </p:nvSpPr>
        <p:spPr>
          <a:xfrm>
            <a:off x="868680" y="417880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ndustry icon" descr="Industr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31596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1788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Industry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868680" y="4892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Provides cotton, sugarcane, oilseeds and rubber for manufacturing.</a:t>
            </a:r>
            <a:endParaRPr lang="en-US" sz="1400" dirty="0"/>
          </a:p>
        </p:txBody>
      </p:sp>
      <p:sp>
        <p:nvSpPr>
          <p:cNvPr id="20" name="Rural Life card"/>
          <p:cNvSpPr/>
          <p:nvPr/>
        </p:nvSpPr>
        <p:spPr>
          <a:xfrm>
            <a:off x="4206240" y="3977640"/>
            <a:ext cx="3337560" cy="2011680"/>
          </a:xfrm>
          <a:prstGeom prst="roundRect">
            <a:avLst>
              <a:gd name="adj" fmla="val 6364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21" name="Rural Life circle"/>
          <p:cNvSpPr/>
          <p:nvPr/>
        </p:nvSpPr>
        <p:spPr>
          <a:xfrm>
            <a:off x="4434840" y="417880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Rural Life icon" descr="Rural Lif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315968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120640" y="41788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Rural Life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4434840" y="4892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Supports communities, markets and local economies, driving development.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C95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The Farming Cycle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</a:rPr>
              <a:t>Five stages that turn soil and seed into food on the table</a:t>
            </a:r>
            <a:endParaRPr lang="en-US" sz="1600" dirty="0"/>
          </a:p>
        </p:txBody>
      </p:sp>
      <p:sp>
        <p:nvSpPr>
          <p:cNvPr id="4" name="Timeline connector"/>
          <p:cNvSpPr/>
          <p:nvPr/>
        </p:nvSpPr>
        <p:spPr>
          <a:xfrm>
            <a:off x="1641348" y="2286000"/>
            <a:ext cx="890625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5" name="Step 1 badge"/>
          <p:cNvSpPr/>
          <p:nvPr/>
        </p:nvSpPr>
        <p:spPr>
          <a:xfrm>
            <a:off x="1275588" y="1920240"/>
            <a:ext cx="731520" cy="7315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7558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Prepare the soil card"/>
          <p:cNvSpPr/>
          <p:nvPr/>
        </p:nvSpPr>
        <p:spPr>
          <a:xfrm>
            <a:off x="640080" y="2926080"/>
            <a:ext cx="2002536" cy="2834640"/>
          </a:xfrm>
          <a:prstGeom prst="roundRect">
            <a:avLst>
              <a:gd name="adj" fmla="val 639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Prepare the soil circle"/>
          <p:cNvSpPr/>
          <p:nvPr/>
        </p:nvSpPr>
        <p:spPr>
          <a:xfrm>
            <a:off x="868680" y="31546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Prepare the soil icon" descr="Prepare the so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91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384048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Prepare the soil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343400"/>
            <a:ext cx="1591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Plough, level and add compost or nutrients to build a healthy seedbed.</a:t>
            </a:r>
            <a:endParaRPr lang="en-US" sz="1400" dirty="0"/>
          </a:p>
        </p:txBody>
      </p:sp>
      <p:sp>
        <p:nvSpPr>
          <p:cNvPr id="12" name="Step 2 badge"/>
          <p:cNvSpPr/>
          <p:nvPr/>
        </p:nvSpPr>
        <p:spPr>
          <a:xfrm>
            <a:off x="3502152" y="1920240"/>
            <a:ext cx="731520" cy="7315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02152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Sow the seed card"/>
          <p:cNvSpPr/>
          <p:nvPr/>
        </p:nvSpPr>
        <p:spPr>
          <a:xfrm>
            <a:off x="2866644" y="2926080"/>
            <a:ext cx="2002536" cy="2834640"/>
          </a:xfrm>
          <a:prstGeom prst="roundRect">
            <a:avLst>
              <a:gd name="adj" fmla="val 639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ow the seed circle"/>
          <p:cNvSpPr/>
          <p:nvPr/>
        </p:nvSpPr>
        <p:spPr>
          <a:xfrm>
            <a:off x="3095244" y="31546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Sow the seed icon" descr="Sow the se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404" y="32918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095244" y="384048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Sow the seed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3095244" y="4343400"/>
            <a:ext cx="1591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Choose improved seeds and plant at the right depth, spacing and season.</a:t>
            </a:r>
            <a:endParaRPr lang="en-US" sz="1400" dirty="0"/>
          </a:p>
        </p:txBody>
      </p:sp>
      <p:sp>
        <p:nvSpPr>
          <p:cNvPr id="19" name="Step 3 badge"/>
          <p:cNvSpPr/>
          <p:nvPr/>
        </p:nvSpPr>
        <p:spPr>
          <a:xfrm>
            <a:off x="5728716" y="1920240"/>
            <a:ext cx="731520" cy="7315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728716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Nurture crops card"/>
          <p:cNvSpPr/>
          <p:nvPr/>
        </p:nvSpPr>
        <p:spPr>
          <a:xfrm>
            <a:off x="5093208" y="2926080"/>
            <a:ext cx="2002536" cy="2834640"/>
          </a:xfrm>
          <a:prstGeom prst="roundRect">
            <a:avLst>
              <a:gd name="adj" fmla="val 639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Nurture crops circle"/>
          <p:cNvSpPr/>
          <p:nvPr/>
        </p:nvSpPr>
        <p:spPr>
          <a:xfrm>
            <a:off x="5321808" y="31546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Nurture crops icon" descr="Nurture cro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329184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321808" y="384048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Nurture crops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5321808" y="4343400"/>
            <a:ext cx="1591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Irrigate carefully and manage weeds, pests and nutrients as crops grow.</a:t>
            </a:r>
            <a:endParaRPr lang="en-US" sz="1400" dirty="0"/>
          </a:p>
        </p:txBody>
      </p:sp>
      <p:sp>
        <p:nvSpPr>
          <p:cNvPr id="26" name="Step 4 badge"/>
          <p:cNvSpPr/>
          <p:nvPr/>
        </p:nvSpPr>
        <p:spPr>
          <a:xfrm>
            <a:off x="7955280" y="1920240"/>
            <a:ext cx="731520" cy="7315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9552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8" name="Harvest card"/>
          <p:cNvSpPr/>
          <p:nvPr/>
        </p:nvSpPr>
        <p:spPr>
          <a:xfrm>
            <a:off x="7319772" y="2926080"/>
            <a:ext cx="2002536" cy="2834640"/>
          </a:xfrm>
          <a:prstGeom prst="roundRect">
            <a:avLst>
              <a:gd name="adj" fmla="val 639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Harvest circle"/>
          <p:cNvSpPr/>
          <p:nvPr/>
        </p:nvSpPr>
        <p:spPr>
          <a:xfrm>
            <a:off x="7548372" y="31546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Harvest icon" descr="Harves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5532" y="329184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548372" y="384048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Harvest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7548372" y="4343400"/>
            <a:ext cx="1591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Gather the crop at peak maturity, by hand or machine, to protect quality.</a:t>
            </a:r>
            <a:endParaRPr lang="en-US" sz="1400" dirty="0"/>
          </a:p>
        </p:txBody>
      </p:sp>
      <p:sp>
        <p:nvSpPr>
          <p:cNvPr id="33" name="Step 5 badge"/>
          <p:cNvSpPr/>
          <p:nvPr/>
        </p:nvSpPr>
        <p:spPr>
          <a:xfrm>
            <a:off x="10181844" y="1920240"/>
            <a:ext cx="731520" cy="7315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2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10181844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35" name="Store &amp; market card"/>
          <p:cNvSpPr/>
          <p:nvPr/>
        </p:nvSpPr>
        <p:spPr>
          <a:xfrm>
            <a:off x="9546336" y="2926080"/>
            <a:ext cx="2002536" cy="2834640"/>
          </a:xfrm>
          <a:prstGeom prst="roundRect">
            <a:avLst>
              <a:gd name="adj" fmla="val 639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6" name="Store &amp; market circle"/>
          <p:cNvSpPr/>
          <p:nvPr/>
        </p:nvSpPr>
        <p:spPr>
          <a:xfrm>
            <a:off x="9774936" y="31546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7" name="Store &amp; market icon" descr="Store &amp; marke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2096" y="3291840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774936" y="384048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Store &amp; market</a:t>
            </a:r>
            <a:endParaRPr lang="en-US" sz="1800" dirty="0"/>
          </a:p>
        </p:txBody>
      </p:sp>
      <p:sp>
        <p:nvSpPr>
          <p:cNvPr id="39" name="Text 32"/>
          <p:cNvSpPr txBox="1"/>
          <p:nvPr/>
        </p:nvSpPr>
        <p:spPr>
          <a:xfrm>
            <a:off x="9774936" y="4343400"/>
            <a:ext cx="1591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Dry, store and transport produce so less is wasted before it reaches people.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566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Technology in Modern Agriculture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</a:rPr>
              <a:t>Technology improves efficiency, precision and resource management</a:t>
            </a:r>
            <a:endParaRPr lang="en-US" sz="1600" dirty="0"/>
          </a:p>
        </p:txBody>
      </p:sp>
      <p:sp>
        <p:nvSpPr>
          <p:cNvPr id="4" name="Tractors &amp; Machines row"/>
          <p:cNvSpPr/>
          <p:nvPr/>
        </p:nvSpPr>
        <p:spPr>
          <a:xfrm>
            <a:off x="640080" y="1828800"/>
            <a:ext cx="676656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ractors &amp; Machines circle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Tractors &amp; Machines icon" descr="Tractors &amp; Machi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1259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74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Tractors &amp; Machines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Reduce manual labour and save time across large fields.</a:t>
            </a:r>
            <a:endParaRPr lang="en-US" sz="1800" dirty="0"/>
          </a:p>
        </p:txBody>
      </p:sp>
      <p:sp>
        <p:nvSpPr>
          <p:cNvPr id="8" name="Drip Irrigation row"/>
          <p:cNvSpPr/>
          <p:nvPr/>
        </p:nvSpPr>
        <p:spPr>
          <a:xfrm>
            <a:off x="640080" y="2907792"/>
            <a:ext cx="676656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Drip Irrigation circle"/>
          <p:cNvSpPr/>
          <p:nvPr/>
        </p:nvSpPr>
        <p:spPr>
          <a:xfrm>
            <a:off x="868680" y="3044952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Drip Irrigation icon" descr="Drip Irrig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320497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37360" y="295351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Drip Irrigation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Delivers water close to plant roots, reducing waste.</a:t>
            </a:r>
            <a:endParaRPr lang="en-US" sz="1800" dirty="0"/>
          </a:p>
        </p:txBody>
      </p:sp>
      <p:sp>
        <p:nvSpPr>
          <p:cNvPr id="12" name="Drones &amp; Sensors row"/>
          <p:cNvSpPr/>
          <p:nvPr/>
        </p:nvSpPr>
        <p:spPr>
          <a:xfrm>
            <a:off x="640080" y="3986784"/>
            <a:ext cx="676656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Drones &amp; Sensors circle"/>
          <p:cNvSpPr/>
          <p:nvPr/>
        </p:nvSpPr>
        <p:spPr>
          <a:xfrm>
            <a:off x="868680" y="4123944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Drones &amp; Sensors icon" descr="Drones &amp; Senso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428396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37360" y="403250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Drones &amp; Sensors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Monitor crops, detect issues early and optimize inputs.</a:t>
            </a:r>
            <a:endParaRPr lang="en-US" sz="1800" dirty="0"/>
          </a:p>
        </p:txBody>
      </p:sp>
      <p:sp>
        <p:nvSpPr>
          <p:cNvPr id="16" name="Improved Seeds row"/>
          <p:cNvSpPr/>
          <p:nvPr/>
        </p:nvSpPr>
        <p:spPr>
          <a:xfrm>
            <a:off x="640080" y="5065776"/>
            <a:ext cx="676656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Improved Seeds circle"/>
          <p:cNvSpPr/>
          <p:nvPr/>
        </p:nvSpPr>
        <p:spPr>
          <a:xfrm>
            <a:off x="868680" y="5202936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mproved Seeds icon" descr="Improved Seed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5362956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37360" y="511149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Improved Seeds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Increase productivity and resilience to climate and pests.</a:t>
            </a:r>
            <a:endParaRPr lang="en-US" sz="1800" dirty="0"/>
          </a:p>
        </p:txBody>
      </p:sp>
      <p:pic>
        <p:nvPicPr>
          <p:cNvPr id="20" name="Dewy leaves close-up" descr="Close-up of healthy green leav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1554480"/>
            <a:ext cx="3867912" cy="43708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566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Challenges &amp; Smart Responses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4"/>
                </a:solidFill>
              </a:rPr>
              <a:t>THE CHALLENGE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371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THE RESPONSE</a:t>
            </a:r>
            <a:endParaRPr lang="en-US" sz="1200" dirty="0"/>
          </a:p>
        </p:txBody>
      </p:sp>
      <p:sp>
        <p:nvSpPr>
          <p:cNvPr id="5" name="Climate change card"/>
          <p:cNvSpPr/>
          <p:nvPr/>
        </p:nvSpPr>
        <p:spPr>
          <a:xfrm>
            <a:off x="640080" y="1783080"/>
            <a:ext cx="502920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Climate change circle"/>
          <p:cNvSpPr/>
          <p:nvPr/>
        </p:nvSpPr>
        <p:spPr>
          <a:xfrm>
            <a:off x="841248" y="1938528"/>
            <a:ext cx="603504" cy="6035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Climate change icon" descr="Climate chan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089404"/>
            <a:ext cx="301752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8288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Climate change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Erratic rain, heat and drought stress crops.</a:t>
            </a:r>
            <a:endParaRPr lang="en-US" sz="1600" dirty="0"/>
          </a:p>
        </p:txBody>
      </p:sp>
      <p:sp>
        <p:nvSpPr>
          <p:cNvPr id="9" name="leads to circle"/>
          <p:cNvSpPr/>
          <p:nvPr/>
        </p:nvSpPr>
        <p:spPr>
          <a:xfrm>
            <a:off x="5852160" y="20116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leads to icon" descr="leads 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2125980"/>
            <a:ext cx="228600" cy="228600"/>
          </a:xfrm>
          <a:prstGeom prst="rect">
            <a:avLst/>
          </a:prstGeom>
        </p:spPr>
      </p:pic>
      <p:sp>
        <p:nvSpPr>
          <p:cNvPr id="11" name="Resilient seeds card"/>
          <p:cNvSpPr/>
          <p:nvPr/>
        </p:nvSpPr>
        <p:spPr>
          <a:xfrm>
            <a:off x="6492240" y="1783080"/>
            <a:ext cx="5056632" cy="9144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720840" y="1828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Resilient seeds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Drought- and pest-tolerant varieties, adjusted calendars.</a:t>
            </a:r>
            <a:endParaRPr lang="en-US" sz="1600" dirty="0"/>
          </a:p>
        </p:txBody>
      </p:sp>
      <p:sp>
        <p:nvSpPr>
          <p:cNvPr id="13" name="Water scarcity card"/>
          <p:cNvSpPr/>
          <p:nvPr/>
        </p:nvSpPr>
        <p:spPr>
          <a:xfrm>
            <a:off x="640080" y="2862072"/>
            <a:ext cx="502920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Water scarcity circle"/>
          <p:cNvSpPr/>
          <p:nvPr/>
        </p:nvSpPr>
        <p:spPr>
          <a:xfrm>
            <a:off x="841248" y="3017520"/>
            <a:ext cx="603504" cy="6035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Water scarcity icon" descr="Water scarc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3168396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290779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Water scarcity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Farming draws most of the world's freshwater.</a:t>
            </a:r>
            <a:endParaRPr lang="en-US" sz="1600" dirty="0"/>
          </a:p>
        </p:txBody>
      </p:sp>
      <p:sp>
        <p:nvSpPr>
          <p:cNvPr id="17" name="leads to circle"/>
          <p:cNvSpPr/>
          <p:nvPr/>
        </p:nvSpPr>
        <p:spPr>
          <a:xfrm>
            <a:off x="5852160" y="309067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leads to icon" descr="leads 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3204972"/>
            <a:ext cx="228600" cy="228600"/>
          </a:xfrm>
          <a:prstGeom prst="rect">
            <a:avLst/>
          </a:prstGeom>
        </p:spPr>
      </p:pic>
      <p:sp>
        <p:nvSpPr>
          <p:cNvPr id="19" name="Smart irrigation card"/>
          <p:cNvSpPr/>
          <p:nvPr/>
        </p:nvSpPr>
        <p:spPr>
          <a:xfrm>
            <a:off x="6492240" y="2862072"/>
            <a:ext cx="5056632" cy="9144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6720840" y="290779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Smart irrigation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Drip systems, rainwater harvesting, careful scheduling.</a:t>
            </a:r>
            <a:endParaRPr lang="en-US" sz="1600" dirty="0"/>
          </a:p>
        </p:txBody>
      </p:sp>
      <p:sp>
        <p:nvSpPr>
          <p:cNvPr id="21" name="Soil degradation card"/>
          <p:cNvSpPr/>
          <p:nvPr/>
        </p:nvSpPr>
        <p:spPr>
          <a:xfrm>
            <a:off x="640080" y="3941064"/>
            <a:ext cx="502920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oil degradation circle"/>
          <p:cNvSpPr/>
          <p:nvPr/>
        </p:nvSpPr>
        <p:spPr>
          <a:xfrm>
            <a:off x="841248" y="4096512"/>
            <a:ext cx="603504" cy="6035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Soil degradation icon" descr="Soil degrad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" y="4247388"/>
            <a:ext cx="301752" cy="30175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45920" y="3986784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Soil degradation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Erosion and nutrient loss reduce yields.</a:t>
            </a:r>
            <a:endParaRPr lang="en-US" sz="1600" dirty="0"/>
          </a:p>
        </p:txBody>
      </p:sp>
      <p:sp>
        <p:nvSpPr>
          <p:cNvPr id="25" name="leads to circle"/>
          <p:cNvSpPr/>
          <p:nvPr/>
        </p:nvSpPr>
        <p:spPr>
          <a:xfrm>
            <a:off x="5852160" y="416966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leads to icon" descr="leads 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4283964"/>
            <a:ext cx="228600" cy="228600"/>
          </a:xfrm>
          <a:prstGeom prst="rect">
            <a:avLst/>
          </a:prstGeom>
        </p:spPr>
      </p:pic>
      <p:sp>
        <p:nvSpPr>
          <p:cNvPr id="27" name="Soil care card"/>
          <p:cNvSpPr/>
          <p:nvPr/>
        </p:nvSpPr>
        <p:spPr>
          <a:xfrm>
            <a:off x="6492240" y="3941064"/>
            <a:ext cx="5056632" cy="9144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6720840" y="3986784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Soil care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Crop rotation, cover crops, compost, balanced nutrients.</a:t>
            </a:r>
            <a:endParaRPr lang="en-US" sz="1600" dirty="0"/>
          </a:p>
        </p:txBody>
      </p:sp>
      <p:sp>
        <p:nvSpPr>
          <p:cNvPr id="29" name="Food loss card"/>
          <p:cNvSpPr/>
          <p:nvPr/>
        </p:nvSpPr>
        <p:spPr>
          <a:xfrm>
            <a:off x="640080" y="5020056"/>
            <a:ext cx="5029200" cy="9144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Food loss circle"/>
          <p:cNvSpPr/>
          <p:nvPr/>
        </p:nvSpPr>
        <p:spPr>
          <a:xfrm>
            <a:off x="841248" y="5175504"/>
            <a:ext cx="603504" cy="6035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1" name="Food loss icon" descr="Food los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" y="5326380"/>
            <a:ext cx="301752" cy="30175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645920" y="5065776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Food loss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Produce is lost in storage and transport.</a:t>
            </a:r>
            <a:endParaRPr lang="en-US" sz="1600" dirty="0"/>
          </a:p>
        </p:txBody>
      </p:sp>
      <p:sp>
        <p:nvSpPr>
          <p:cNvPr id="33" name="leads to circle"/>
          <p:cNvSpPr/>
          <p:nvPr/>
        </p:nvSpPr>
        <p:spPr>
          <a:xfrm>
            <a:off x="5852160" y="524865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4" name="leads to icon" descr="leads 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5362956"/>
            <a:ext cx="228600" cy="228600"/>
          </a:xfrm>
          <a:prstGeom prst="rect">
            <a:avLst/>
          </a:prstGeom>
        </p:spPr>
      </p:pic>
      <p:sp>
        <p:nvSpPr>
          <p:cNvPr id="35" name="Better handling card"/>
          <p:cNvSpPr/>
          <p:nvPr/>
        </p:nvSpPr>
        <p:spPr>
          <a:xfrm>
            <a:off x="6492240" y="5020056"/>
            <a:ext cx="5056632" cy="914400"/>
          </a:xfrm>
          <a:prstGeom prst="roundRect">
            <a:avLst>
              <a:gd name="adj" fmla="val 1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6" name="Text 26"/>
          <p:cNvSpPr txBox="1"/>
          <p:nvPr/>
        </p:nvSpPr>
        <p:spPr>
          <a:xfrm>
            <a:off x="6720840" y="5065776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Better handling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Improved storage, transport and food processing.</a:t>
            </a:r>
            <a:endParaRPr lang="en-US" sz="16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566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Sustainable Agriculture &amp; The Future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Growing more while protecting soil, water and biodiversity</a:t>
            </a:r>
            <a:endParaRPr lang="en-US" sz="1600" dirty="0"/>
          </a:p>
        </p:txBody>
      </p:sp>
      <p:sp>
        <p:nvSpPr>
          <p:cNvPr id="4" name="Use water wisely card"/>
          <p:cNvSpPr/>
          <p:nvPr/>
        </p:nvSpPr>
        <p:spPr>
          <a:xfrm>
            <a:off x="640080" y="1828800"/>
            <a:ext cx="3520440" cy="2651760"/>
          </a:xfrm>
          <a:prstGeom prst="roundRect">
            <a:avLst>
              <a:gd name="adj" fmla="val 482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5" name="Use water wisely circle"/>
          <p:cNvSpPr/>
          <p:nvPr/>
        </p:nvSpPr>
        <p:spPr>
          <a:xfrm>
            <a:off x="914400" y="21031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Use water wisely icon" descr="Use water wise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Use water wisely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520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Drip irrigation, rainwater harvesting and careful scheduling.</a:t>
            </a:r>
            <a:endParaRPr lang="en-US" sz="1400" dirty="0"/>
          </a:p>
        </p:txBody>
      </p:sp>
      <p:sp>
        <p:nvSpPr>
          <p:cNvPr id="9" name="Keep soil healthy card"/>
          <p:cNvSpPr/>
          <p:nvPr/>
        </p:nvSpPr>
        <p:spPr>
          <a:xfrm>
            <a:off x="4338828" y="1828800"/>
            <a:ext cx="3520440" cy="2651760"/>
          </a:xfrm>
          <a:prstGeom prst="roundRect">
            <a:avLst>
              <a:gd name="adj" fmla="val 482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0" name="Keep soil healthy circle"/>
          <p:cNvSpPr/>
          <p:nvPr/>
        </p:nvSpPr>
        <p:spPr>
          <a:xfrm>
            <a:off x="4613148" y="21031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Keep soil healthy icon" descr="Keep soil health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028" y="2286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3148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Keep soil healthy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3148" y="3520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Crop rotation, compost, cover crops and balanced nutrients.</a:t>
            </a:r>
            <a:endParaRPr lang="en-US" sz="1400" dirty="0"/>
          </a:p>
        </p:txBody>
      </p:sp>
      <p:sp>
        <p:nvSpPr>
          <p:cNvPr id="14" name="Cut food waste card"/>
          <p:cNvSpPr/>
          <p:nvPr/>
        </p:nvSpPr>
        <p:spPr>
          <a:xfrm>
            <a:off x="8037576" y="1828800"/>
            <a:ext cx="3520440" cy="2651760"/>
          </a:xfrm>
          <a:prstGeom prst="roundRect">
            <a:avLst>
              <a:gd name="adj" fmla="val 4828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5" name="Cut food waste circle"/>
          <p:cNvSpPr/>
          <p:nvPr/>
        </p:nvSpPr>
        <p:spPr>
          <a:xfrm>
            <a:off x="8311896" y="21031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Cut food waste icon" descr="Cut food was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22860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11896" y="3017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Cut food waste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11896" y="3520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Better storage, transport and food processing.</a:t>
            </a:r>
            <a:endParaRPr lang="en-US" sz="1400" dirty="0"/>
          </a:p>
        </p:txBody>
      </p:sp>
      <p:sp>
        <p:nvSpPr>
          <p:cNvPr id="19" name="Future statement"/>
          <p:cNvSpPr/>
          <p:nvPr/>
        </p:nvSpPr>
        <p:spPr>
          <a:xfrm>
            <a:off x="640080" y="4754880"/>
            <a:ext cx="10908792" cy="128016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005840" y="484632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future of agriculture depends on productivity, sustainability and responsible use of natural resources.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7C95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op rows" descr="Rows of green crops stretching to the horiz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panel"/>
          <p:cNvSpPr/>
          <p:nvPr/>
        </p:nvSpPr>
        <p:spPr>
          <a:xfrm>
            <a:off x="640080" y="1325880"/>
            <a:ext cx="6858000" cy="4343400"/>
          </a:xfrm>
          <a:prstGeom prst="roundRect">
            <a:avLst>
              <a:gd name="adj" fmla="val 3789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eedling circle"/>
          <p:cNvSpPr/>
          <p:nvPr/>
        </p:nvSpPr>
        <p:spPr>
          <a:xfrm>
            <a:off x="1097280" y="17373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Seedling icon" descr="Seedl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1897380"/>
            <a:ext cx="320040" cy="320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920240" y="1737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3"/>
                </a:solidFill>
              </a:rPr>
              <a:t>AGRICULTURE</a:t>
            </a:r>
            <a:endParaRPr lang="en-US" sz="1400" dirty="0"/>
          </a:p>
        </p:txBody>
      </p:sp>
      <p:sp>
        <p:nvSpPr>
          <p:cNvPr id="7" name="Text 1"/>
          <p:cNvSpPr>
            <a:spLocks noGrp="1"/>
          </p:cNvSpPr>
          <p:nvPr>
            <p:ph type="title" idx="101" hasCustomPrompt="1"/>
          </p:nvPr>
        </p:nvSpPr>
        <p:spPr>
          <a:xfrm>
            <a:off x="1097280" y="25146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8" name="Text 1"/>
          <p:cNvSpPr>
            <a:spLocks noGrp="1"/>
          </p:cNvSpPr>
          <p:nvPr>
            <p:ph type="body" idx="102" hasCustomPrompt="1"/>
          </p:nvPr>
        </p:nvSpPr>
        <p:spPr>
          <a:xfrm>
            <a:off x="1097280" y="3703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</a:rPr>
              <a:t>Agriculture shapes our present and our future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097280" y="4800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Healthy Soil  •  Smart Water Use  •  Food Security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dern Agriculture">
  <a:themeElements>
    <a:clrScheme name="Modern Agriculture">
      <a:dk1>
        <a:srgbClr val="1B2A21"/>
      </a:dk1>
      <a:lt1>
        <a:srgbClr val="FFFFFF"/>
      </a:lt1>
      <a:dk2>
        <a:srgbClr val="1F3D2B"/>
      </a:dk2>
      <a:lt2>
        <a:srgbClr val="F1F6EC"/>
      </a:lt2>
      <a:accent1>
        <a:srgbClr val="2F7D45"/>
      </a:accent1>
      <a:accent2>
        <a:srgbClr val="E9B949"/>
      </a:accent2>
      <a:accent3>
        <a:srgbClr val="A7C957"/>
      </a:accent3>
      <a:accent4>
        <a:srgbClr val="C8673A"/>
      </a:accent4>
      <a:accent5>
        <a:srgbClr val="3F8FA3"/>
      </a:accent5>
      <a:accent6>
        <a:srgbClr val="7A5C3E"/>
      </a:accent6>
      <a:hlink>
        <a:srgbClr val="2F7D45"/>
      </a:hlink>
      <a:folHlink>
        <a:srgbClr val="7A5C3E"/>
      </a:folHlink>
    </a:clrScheme>
    <a:fontScheme name="Modern Agricultu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1000</Words>
  <Application>Microsoft Office PowerPoint</Application>
  <PresentationFormat>Widescreen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Modern Agriculture</vt:lpstr>
      <vt:lpstr>Agriculture</vt:lpstr>
      <vt:lpstr>What is Agriculture?</vt:lpstr>
      <vt:lpstr>Agriculture at a Glance</vt:lpstr>
      <vt:lpstr>Major Types of Agriculture</vt:lpstr>
      <vt:lpstr>Importance of Agriculture</vt:lpstr>
      <vt:lpstr>The Farming Cycle</vt:lpstr>
      <vt:lpstr>Technology in Modern Agriculture</vt:lpstr>
      <vt:lpstr>Challenges &amp; Smart Responses</vt:lpstr>
      <vt:lpstr>Sustainable Agriculture &amp; The Future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Agriculture: The Foundation of Food, Livelihoods and Civilization</dc:title>
  <dc:subject>PptxGenJS Presentation</dc:subject>
  <dc:creator>PptxGenJS</dc:creator>
  <cp:lastModifiedBy>Tushar kumar</cp:lastModifiedBy>
  <cp:revision>2</cp:revision>
  <dcterms:created xsi:type="dcterms:W3CDTF">2026-10-15T05:48:01Z</dcterms:created>
  <dcterms:modified xsi:type="dcterms:W3CDTF">2026-10-16T10:52:35Z</dcterms:modified>
</cp:coreProperties>
</file>